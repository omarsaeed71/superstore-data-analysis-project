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1051560"/>
            <a:ext cx="21854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b="1" dirty="0">
                <a:solidFill>
                  <a:srgbClr val="06B6D4"/>
                </a:solidFill>
                <a:latin typeface="Aptos"/>
              </a:rPr>
              <a:t>NTI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3363806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200" b="1" dirty="0">
                <a:solidFill>
                  <a:srgbClr val="F8FAFC"/>
                </a:solidFill>
                <a:latin typeface="Aptos"/>
              </a:rPr>
              <a:t>Superstore Sales</a:t>
            </a:r>
            <a:br>
              <a:rPr lang="en-US" sz="3200" dirty="0"/>
            </a:br>
            <a:r>
              <a:rPr lang="en-US" sz="3200" dirty="0"/>
              <a:t>Data Analysis &amp;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1800" b="0" dirty="0">
                <a:solidFill>
                  <a:srgbClr val="94A3B8"/>
                </a:solidFill>
                <a:latin typeface="Aptos"/>
              </a:rPr>
              <a:t>From Raw Data to Data Warehouse &amp; Power BI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59893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200" b="0" dirty="0">
                <a:solidFill>
                  <a:srgbClr val="94A3B8"/>
                </a:solidFill>
                <a:latin typeface="Aptos"/>
              </a:rPr>
              <a:t>NTI •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F5B7D1D-DA9E-9478-3506-99332E065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624" y="457200"/>
            <a:ext cx="1451576" cy="14532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5E82A3-C3F3-80AB-2CE4-BF0E946D9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053" y="457199"/>
            <a:ext cx="1453205" cy="14532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Project objective and business requirements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Data collection and initial exploration (EDA)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SQL Server: staging, ODS, and data warehouse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SSIS: ETL, transformation, and data loading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Dimensional modeling and Star Schema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Power BI: DAX, KPIs, visualizations, and dashboards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Business insights and final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1. Business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Analyze Superstore sales data to understand business performance.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Transform raw transactional data into a reliable analytical model.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Build a Data Warehouse optimized for reporting and analysis.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Create interactive Power BI dashboards for decision support.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Answer measurable business questions using KPIs and visual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1862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dirty="0">
                <a:solidFill>
                  <a:srgbClr val="F8FAFC"/>
                </a:solidFill>
                <a:latin typeface="Aptos"/>
              </a:rPr>
              <a:t>2. Data Collection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488192" cy="1349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Source: Superstore Sales Dataset (Kaggle).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Raw data was reviewed to understand columns, data types, missing values, and duplicates</a:t>
            </a:r>
            <a:r>
              <a:rPr lang="ar-EG" dirty="0"/>
              <a:t>.</a:t>
            </a:r>
            <a:endParaRPr dirty="0"/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Sales and order-related fields were selected as the foundation for analytical modeling.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3. End-to-End Data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2390" y="2361831"/>
            <a:ext cx="1508760" cy="1097280"/>
          </a:xfrm>
          <a:prstGeom prst="roundRect">
            <a:avLst/>
          </a:prstGeom>
          <a:solidFill>
            <a:srgbClr val="2563E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2633472"/>
            <a:ext cx="1371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Kaggle</a:t>
            </a:r>
            <a:br/>
            <a: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7128" y="2670048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3058" y="2361831"/>
            <a:ext cx="150876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34146" y="2617863"/>
            <a:ext cx="1144288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dirty="0">
                <a:solidFill>
                  <a:srgbClr val="F8FAFC"/>
                </a:solidFill>
                <a:latin typeface="Aptos"/>
              </a:rPr>
              <a:t>SQL Server</a:t>
            </a:r>
            <a:br>
              <a:rPr dirty="0"/>
            </a:br>
            <a:r>
              <a:rPr lang="en-US" dirty="0"/>
              <a:t>ODS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698305" y="267953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4450" y="267953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2109" y="2331720"/>
            <a:ext cx="150876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44613" y="2587752"/>
            <a:ext cx="143289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500" b="1" dirty="0">
                <a:solidFill>
                  <a:srgbClr val="F8FAFC"/>
                </a:solidFill>
                <a:latin typeface="Aptos"/>
              </a:rPr>
              <a:t>Cleaned &amp;</a:t>
            </a:r>
          </a:p>
          <a:p>
            <a:pPr algn="ctr"/>
            <a:r>
              <a:rPr lang="en-US" sz="1500" b="1" dirty="0">
                <a:solidFill>
                  <a:srgbClr val="F8FAFC"/>
                </a:solidFill>
                <a:latin typeface="Aptos"/>
              </a:rPr>
              <a:t>Modeled Data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9517452" y="267953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44075" y="2313770"/>
            <a:ext cx="1508760" cy="1097280"/>
          </a:xfrm>
          <a:prstGeom prst="roundRect">
            <a:avLst/>
          </a:prstGeom>
          <a:solidFill>
            <a:srgbClr val="2563E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02295" y="2569802"/>
            <a:ext cx="1371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Power BI</a:t>
            </a:r>
            <a:br/>
            <a: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297680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94A3B8"/>
                </a:solidFill>
                <a:latin typeface="Aptos"/>
              </a:rPr>
              <a:t>A complete pipeline from raw data ingestion to business intelligence.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5</a:t>
            </a:r>
          </a:p>
        </p:txBody>
      </p: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7AD13462-6F75-B4D6-33B4-52B46635C8EE}"/>
              </a:ext>
            </a:extLst>
          </p:cNvPr>
          <p:cNvSpPr/>
          <p:nvPr/>
        </p:nvSpPr>
        <p:spPr>
          <a:xfrm>
            <a:off x="5214941" y="2313771"/>
            <a:ext cx="150876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035B8E-7F06-1836-A8C7-E85BA51032F0}"/>
              </a:ext>
            </a:extLst>
          </p:cNvPr>
          <p:cNvSpPr txBox="1"/>
          <p:nvPr/>
        </p:nvSpPr>
        <p:spPr>
          <a:xfrm>
            <a:off x="5581487" y="2446912"/>
            <a:ext cx="67518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500" b="1" dirty="0">
                <a:solidFill>
                  <a:srgbClr val="F8FAFC"/>
                </a:solidFill>
                <a:latin typeface="Aptos"/>
              </a:rPr>
              <a:t>SSIS</a:t>
            </a:r>
          </a:p>
          <a:p>
            <a:pPr algn="ctr"/>
            <a:r>
              <a:rPr lang="en-US" sz="1500" b="1" dirty="0">
                <a:solidFill>
                  <a:srgbClr val="F8FAFC"/>
                </a:solidFill>
                <a:latin typeface="Aptos"/>
              </a:rPr>
              <a:t>STG</a:t>
            </a:r>
            <a:r>
              <a:rPr sz="1500" b="1" dirty="0">
                <a:solidFill>
                  <a:srgbClr val="F8FAFC"/>
                </a:solidFill>
                <a:latin typeface="Aptos"/>
              </a:rPr>
              <a:t>/</a:t>
            </a:r>
            <a:br>
              <a:rPr dirty="0"/>
            </a:br>
            <a:r>
              <a:rPr dirty="0"/>
              <a:t>DWH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4. SQL Server –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8987973" cy="2298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SQL Server was used as the central platform for data storage.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</a:t>
            </a:r>
            <a:r>
              <a:rPr lang="en-US" dirty="0"/>
              <a:t>ODS</a:t>
            </a:r>
            <a:r>
              <a:rPr dirty="0"/>
              <a:t> </a:t>
            </a:r>
            <a:r>
              <a:rPr lang="en-US" dirty="0"/>
              <a:t>(Operational Data Store)</a:t>
            </a:r>
            <a:r>
              <a:rPr dirty="0"/>
              <a:t> stores incoming/raw data before transformation.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</a:t>
            </a:r>
            <a:r>
              <a:rPr lang="en-US" dirty="0"/>
              <a:t>STG (Staging) </a:t>
            </a:r>
            <a:r>
              <a:rPr dirty="0"/>
              <a:t>provides a cleaner and more structured layer.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DWH (Data Warehouse) stores the final analytical model.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SQL DDL was used to create schemas, tables</a:t>
            </a:r>
            <a:r>
              <a:rPr lang="en-US" dirty="0"/>
              <a:t> and</a:t>
            </a:r>
            <a:r>
              <a:rPr dirty="0"/>
              <a:t> keys.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090C83-C6D7-1E22-337A-71DD74B15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4157974"/>
            <a:ext cx="3822192" cy="219965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C5C98CD-671B-5E92-4C85-DAAC9C69B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2920" y="4157974"/>
            <a:ext cx="3822192" cy="21918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16E7539-714A-467A-A1DC-93D327E23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663" y="4149179"/>
            <a:ext cx="3822193" cy="22006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5. SSIS – ETL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9051260" cy="1823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SSIS was used to automate the Extract, Transform, and Load process.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Extract: read data from the source/</a:t>
            </a:r>
            <a:r>
              <a:rPr lang="en-US" dirty="0"/>
              <a:t>ODS</a:t>
            </a:r>
            <a:r>
              <a:rPr dirty="0"/>
              <a:t> layer.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Transform: clean, convert, validate, and map data into the target structure.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Load: populate </a:t>
            </a:r>
            <a:r>
              <a:rPr lang="en-US" dirty="0"/>
              <a:t>STG/</a:t>
            </a:r>
            <a:r>
              <a:rPr dirty="0"/>
              <a:t>DWH tables while preserving data quality and consistency.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4B588B-A8F0-E84A-72C7-EBC214565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3819679"/>
            <a:ext cx="3823716" cy="2626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F79DC0-35A9-8107-80F7-A904605EB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902" y="3819680"/>
            <a:ext cx="3823716" cy="26268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F1C133F-2813-6706-50F8-75A780DA3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784" y="3794760"/>
            <a:ext cx="3823716" cy="2626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6. Why a Data Warehouse?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" y="1600200"/>
            <a:ext cx="12118848" cy="2605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Separates analytical workloads from operational/raw data.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Integrates cleaned and transformed data into a consistent structure.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Improves reporting performance and makes historical analysis easier.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Provides a single source of truth for Power BI and business reporting.</a:t>
            </a:r>
            <a:endParaRPr lang="en-US" dirty="0"/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F8FAFC"/>
                </a:solidFill>
                <a:latin typeface="Aptos"/>
              </a:defRPr>
            </a:pPr>
            <a:r>
              <a:rPr lang="en-US" dirty="0"/>
              <a:t>Separation of concerns (SoC) is a core software design principle that divides a computer </a:t>
            </a:r>
            <a:r>
              <a:rPr lang="en-US" dirty="0" err="1"/>
              <a:t>programinto</a:t>
            </a:r>
            <a:r>
              <a:rPr lang="en-US" dirty="0"/>
              <a:t> distinct sections, such that each section addresses a separate responsibility or feature.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7. Dimensional Modeling – Star Schema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2331720"/>
            <a:ext cx="2834640" cy="1234440"/>
          </a:xfrm>
          <a:prstGeom prst="roundRect">
            <a:avLst/>
          </a:prstGeom>
          <a:solidFill>
            <a:srgbClr val="2563E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00600" y="2578608"/>
            <a:ext cx="2560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8FAFC"/>
                </a:solidFill>
                <a:latin typeface="Aptos"/>
              </a:rPr>
              <a:t>Fact_Sales</a:t>
            </a:r>
            <a:br/>
            <a:r>
              <a:t>Central Fact 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237744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Dim_Customer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325880"/>
            <a:ext cx="237744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23960" y="16002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Dim_Product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104894"/>
            <a:ext cx="237744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37921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Dim_Location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39" y="4104894"/>
            <a:ext cx="237744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799" y="4407408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 err="1">
                <a:solidFill>
                  <a:srgbClr val="F8FAFC"/>
                </a:solidFill>
                <a:latin typeface="Aptos"/>
              </a:rPr>
              <a:t>Dim_Ship_Mode</a:t>
            </a:r>
            <a:endParaRPr sz="16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77440" y="5715000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Aptos"/>
              </a:rPr>
              <a:t>One-to-many relationships enable efficient slicing, filtering, and aggregation.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9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72CC70A-0DC4-FE91-CB84-B1C8BBEAA2A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291840" y="1783080"/>
            <a:ext cx="1356360" cy="609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7">
            <a:extLst>
              <a:ext uri="{FF2B5EF4-FFF2-40B4-BE49-F238E27FC236}">
                <a16:creationId xmlns:a16="http://schemas.microsoft.com/office/drawing/2014/main" id="{DE66470E-6A4A-5CD5-B4A2-1D0D2E4EF4CB}"/>
              </a:ext>
            </a:extLst>
          </p:cNvPr>
          <p:cNvSpPr/>
          <p:nvPr/>
        </p:nvSpPr>
        <p:spPr>
          <a:xfrm>
            <a:off x="4892040" y="4434840"/>
            <a:ext cx="237744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Dim_Date</a:t>
            </a:r>
            <a:endParaRPr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33ADC1B-71BD-DD73-836D-50A115B2F3CB}"/>
              </a:ext>
            </a:extLst>
          </p:cNvPr>
          <p:cNvCxnSpPr>
            <a:cxnSpLocks/>
          </p:cNvCxnSpPr>
          <p:nvPr/>
        </p:nvCxnSpPr>
        <p:spPr>
          <a:xfrm flipH="1">
            <a:off x="7498080" y="1792986"/>
            <a:ext cx="1234440" cy="599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1E985CA-90CA-8DD1-ED24-3D38A512D26F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3474720" y="3593593"/>
            <a:ext cx="1203961" cy="968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FADD95B-BDEE-3141-95BC-0D5F6BF891B5}"/>
              </a:ext>
            </a:extLst>
          </p:cNvPr>
          <p:cNvCxnSpPr>
            <a:cxnSpLocks/>
            <a:stCxn id="26" idx="0"/>
            <a:endCxn id="4" idx="2"/>
          </p:cNvCxnSpPr>
          <p:nvPr/>
        </p:nvCxnSpPr>
        <p:spPr>
          <a:xfrm flipV="1">
            <a:off x="6080760" y="3566160"/>
            <a:ext cx="0" cy="868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53D14CC-8711-D46C-49B0-25590C6AD74A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7513320" y="3566160"/>
            <a:ext cx="1036319" cy="995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8. Key Performance Indicators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06324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94A3B8"/>
                </a:solidFill>
                <a:latin typeface="Aptos"/>
              </a:rPr>
              <a:t>Total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2697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Aptos"/>
              </a:rPr>
              <a:t>$2,261,536.78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2011680"/>
            <a:ext cx="306324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237744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94A3B8"/>
                </a:solidFill>
                <a:latin typeface="Aptos"/>
              </a:rPr>
              <a:t>Total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926080"/>
            <a:ext cx="2697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Aptos"/>
              </a:rPr>
              <a:t>4,922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011680"/>
            <a:ext cx="306324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19" y="237744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94A3B8"/>
                </a:solidFill>
                <a:latin typeface="Aptos"/>
              </a:rPr>
              <a:t>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2926080"/>
            <a:ext cx="2697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Aptos"/>
              </a:rPr>
              <a:t>9,800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66344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Aptos"/>
              </a:rPr>
              <a:t>These KPIs provide the high-level snapshot used throughout the dashboard.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9. Power BI &amp; DAX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Power BI connects to the final analytical model in the Data Warehouse.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DAX measures calculate KPIs and support dynamic analysis.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Filters and slicers allow users to explore performance by different dimensions.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The dashboard combines cards, charts, maps, treemaps, and other visuals.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10. Power BI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617220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Replace the placeholders with your final Power BI dashboard screenshots.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12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9EC1061-A364-6E02-21B8-A4A38EA6E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31" y="2011680"/>
            <a:ext cx="3941063" cy="3429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12AFCB6-B8D0-7094-8CFA-4A67FCEBF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425" y="2011680"/>
            <a:ext cx="4033797" cy="3429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A1A864A-7ED2-1484-A530-C9F730161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753" y="2011680"/>
            <a:ext cx="3941066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11.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067544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Identify the strongest sales-performing categories</a:t>
            </a:r>
            <a:r>
              <a:rPr lang="en-US" dirty="0"/>
              <a:t>()</a:t>
            </a:r>
            <a:r>
              <a:rPr dirty="0"/>
              <a:t> and products</a:t>
            </a:r>
            <a:r>
              <a:rPr lang="en-US" dirty="0"/>
              <a:t>()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lang="en-US" dirty="0"/>
              <a:t>• Evaluate shipping modes and their contribution to orders.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Use time-based analysis to identify sales trends and seasonality.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Translate dashboard findings into actionable business recommendations.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262443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dirty="0">
                <a:solidFill>
                  <a:srgbClr val="F8FAFC"/>
                </a:solidFill>
                <a:latin typeface="Aptos"/>
              </a:rPr>
              <a:t>1</a:t>
            </a:r>
            <a:r>
              <a:rPr lang="en-US" sz="2800" b="1" dirty="0">
                <a:solidFill>
                  <a:srgbClr val="F8FAFC"/>
                </a:solidFill>
                <a:latin typeface="Aptos"/>
              </a:rPr>
              <a:t>1</a:t>
            </a:r>
            <a:r>
              <a:rPr sz="2800" b="1" dirty="0">
                <a:solidFill>
                  <a:srgbClr val="F8FAFC"/>
                </a:solidFill>
                <a:latin typeface="Aptos"/>
              </a:rPr>
              <a:t>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The project demonstrates a complete Data Analytics and BI workflow.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Raw data was transformed into a structured Data Warehouse through ETL.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Star Schema modeling made the data easier and faster to analyze.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Power BI converted the analytical model into interactive business dashboards.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The final solution supports data-driven decision making.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F8FAFC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6B6D4"/>
                </a:solidFill>
                <a:latin typeface="Apto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7492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Aptos"/>
              </a:rPr>
              <a:t>NTI Final Project • Data Analysis &amp; Business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727</Words>
  <Application>Microsoft Office PowerPoint</Application>
  <PresentationFormat>Widescreen</PresentationFormat>
  <Paragraphs>104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42024007</cp:lastModifiedBy>
  <cp:revision>10</cp:revision>
  <dcterms:created xsi:type="dcterms:W3CDTF">2013-01-27T09:14:16Z</dcterms:created>
  <dcterms:modified xsi:type="dcterms:W3CDTF">2026-08-08T00:29:17Z</dcterms:modified>
  <cp:category/>
</cp:coreProperties>
</file>